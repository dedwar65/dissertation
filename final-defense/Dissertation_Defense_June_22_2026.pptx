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14548942674a14" /><Relationship Type="http://schemas.openxmlformats.org/officeDocument/2006/relationships/extended-properties" Target="/docProps/app.xml" Id="Rd30440e9aae4449e" /><Relationship Type="http://schemas.openxmlformats.org/officeDocument/2006/relationships/officeDocument" Target="/ppt/presentation.xml" Id="Red1eaaf7dd44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525028cb64d3f"/>
  </p:sldMasterIdLst>
  <p:notesMasterIdLst>
    <p:notesMasterId xmlns:r="http://schemas.openxmlformats.org/officeDocument/2006/relationships" r:id="Rcea5f04860204a43"/>
  </p:notesMasterIdLst>
  <p:sldIdLst>
    <p:sldId xmlns:r="http://schemas.openxmlformats.org/officeDocument/2006/relationships" id="256" r:id="Rd0dbe10771144bd4"/>
    <p:sldId xmlns:r="http://schemas.openxmlformats.org/officeDocument/2006/relationships" id="257" r:id="R70c1fc08839e4303"/>
    <p:sldId xmlns:r="http://schemas.openxmlformats.org/officeDocument/2006/relationships" id="258" r:id="R3f2e196936dc408e"/>
    <p:sldId xmlns:r="http://schemas.openxmlformats.org/officeDocument/2006/relationships" id="259" r:id="R3411b035610b46ad"/>
    <p:sldId xmlns:r="http://schemas.openxmlformats.org/officeDocument/2006/relationships" id="260" r:id="R94e422467e6b4e9f"/>
    <p:sldId xmlns:r="http://schemas.openxmlformats.org/officeDocument/2006/relationships" id="261" r:id="R3612b731ae8843ad"/>
    <p:sldId xmlns:r="http://schemas.openxmlformats.org/officeDocument/2006/relationships" id="262" r:id="R5345c0e1493a49e0"/>
    <p:sldId xmlns:r="http://schemas.openxmlformats.org/officeDocument/2006/relationships" id="263" r:id="R23061d89ea8d4cdb"/>
    <p:sldId xmlns:r="http://schemas.openxmlformats.org/officeDocument/2006/relationships" id="264" r:id="Rc3fadc8722b94862"/>
    <p:sldId xmlns:r="http://schemas.openxmlformats.org/officeDocument/2006/relationships" id="265" r:id="R18b90f423aa044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525028cb64d3f" /><Relationship Type="http://schemas.openxmlformats.org/officeDocument/2006/relationships/theme" Target="/ppt/theme/theme1.xml" Id="R682ca981682a402b" /><Relationship Type="http://schemas.openxmlformats.org/officeDocument/2006/relationships/notesMaster" Target="/ppt/notesMasters/notesMaster1.xml" Id="Rcea5f04860204a43" /><Relationship Type="http://schemas.openxmlformats.org/officeDocument/2006/relationships/presProps" Target="/ppt/presProps.xml" Id="Rbc26b3dd10e843c9" /><Relationship Type="http://schemas.openxmlformats.org/officeDocument/2006/relationships/viewProps" Target="/ppt/viewProps.xml" Id="R48ab4fc876cf48f3" /><Relationship Type="http://schemas.openxmlformats.org/officeDocument/2006/relationships/tableStyles" Target="/ppt/tableStyles.xml" Id="R54a09b3f1d474332" /><Relationship Type="http://schemas.openxmlformats.org/officeDocument/2006/relationships/slide" Target="/ppt/slides/slide1.xml" Id="Rd0dbe10771144bd4" /><Relationship Type="http://schemas.openxmlformats.org/officeDocument/2006/relationships/slide" Target="/ppt/slides/slide2.xml" Id="R70c1fc08839e4303" /><Relationship Type="http://schemas.openxmlformats.org/officeDocument/2006/relationships/slide" Target="/ppt/slides/slide3.xml" Id="R3f2e196936dc408e" /><Relationship Type="http://schemas.openxmlformats.org/officeDocument/2006/relationships/slide" Target="/ppt/slides/slide4.xml" Id="R3411b035610b46ad" /><Relationship Type="http://schemas.openxmlformats.org/officeDocument/2006/relationships/slide" Target="/ppt/slides/slide5.xml" Id="R94e422467e6b4e9f" /><Relationship Type="http://schemas.openxmlformats.org/officeDocument/2006/relationships/slide" Target="/ppt/slides/slide6.xml" Id="R3612b731ae8843ad" /><Relationship Type="http://schemas.openxmlformats.org/officeDocument/2006/relationships/slide" Target="/ppt/slides/slide7.xml" Id="R5345c0e1493a49e0" /><Relationship Type="http://schemas.openxmlformats.org/officeDocument/2006/relationships/slide" Target="/ppt/slides/slide8.xml" Id="R23061d89ea8d4cdb" /><Relationship Type="http://schemas.openxmlformats.org/officeDocument/2006/relationships/slide" Target="/ppt/slides/slide9.xml" Id="Rc3fadc8722b94862" /><Relationship Type="http://schemas.openxmlformats.org/officeDocument/2006/relationships/slide" Target="/ppt/slides/slide10.xml" Id="R18b90f423aa0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bdf41aad97d44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64e8a2801a49e9" /><Relationship Type="http://schemas.openxmlformats.org/officeDocument/2006/relationships/notesMaster" Target="/ppt/notesMasters/notesMaster1.xml" Id="R9c72032ab56b45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bf5ef260749bd" /><Relationship Type="http://schemas.openxmlformats.org/officeDocument/2006/relationships/notesMaster" Target="/ppt/notesMasters/notesMaster1.xml" Id="R2b67d352f836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a0796c45d405c" /><Relationship Type="http://schemas.openxmlformats.org/officeDocument/2006/relationships/notesMaster" Target="/ppt/notesMasters/notesMaster1.xml" Id="Rca6b189760394b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7262d2d0ba49f5" /><Relationship Type="http://schemas.openxmlformats.org/officeDocument/2006/relationships/notesMaster" Target="/ppt/notesMasters/notesMaster1.xml" Id="R36207c9b83ec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8fc048cd984fd6" /><Relationship Type="http://schemas.openxmlformats.org/officeDocument/2006/relationships/notesMaster" Target="/ppt/notesMasters/notesMaster1.xml" Id="R0ca55a35ed0f4a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fd267ab194425" /><Relationship Type="http://schemas.openxmlformats.org/officeDocument/2006/relationships/notesMaster" Target="/ppt/notesMasters/notesMaster1.xml" Id="R10823936f7d544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f08f8dd2be4397" /><Relationship Type="http://schemas.openxmlformats.org/officeDocument/2006/relationships/notesMaster" Target="/ppt/notesMasters/notesMaster1.xml" Id="R5bb4e523135845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10f5c2f69d49b5" /><Relationship Type="http://schemas.openxmlformats.org/officeDocument/2006/relationships/notesMaster" Target="/ppt/notesMasters/notesMaster1.xml" Id="R5d01e3ea959841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4b555d2a1461c" /><Relationship Type="http://schemas.openxmlformats.org/officeDocument/2006/relationships/notesMaster" Target="/ppt/notesMasters/notesMaster1.xml" Id="R6adcde28e52f45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5fecae5a6c4e11" /><Relationship Type="http://schemas.openxmlformats.org/officeDocument/2006/relationships/notesMaster" Target="/ppt/notesMasters/notesMaster1.xml" Id="R5fc6c768fa13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4cd175d82403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cd26e758244e20" /><Relationship Type="http://schemas.openxmlformats.org/officeDocument/2006/relationships/slideLayout" Target="/ppt/slideLayouts/slideLayout2.xml" Id="R5e3c823674eb48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c823674eb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a4d100d784f1d" /><Relationship Type="http://schemas.openxmlformats.org/officeDocument/2006/relationships/notesSlide" Target="/ppt/notesSlides/notesSlide1.xml" Id="R046bca704f24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1120049b2a4763" /><Relationship Type="http://schemas.openxmlformats.org/officeDocument/2006/relationships/notesSlide" Target="/ppt/notesSlides/notesSlide2.xml" Id="Rfc589f22d75444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b6820e88e14e30" /><Relationship Type="http://schemas.openxmlformats.org/officeDocument/2006/relationships/notesSlide" Target="/ppt/notesSlides/notesSlide3.xml" Id="R1eafeae5cc474f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471f1fd8a41b8" /><Relationship Type="http://schemas.openxmlformats.org/officeDocument/2006/relationships/image" Target="/ppt/media/image.png" Id="R66faf8efc5c24d57" /><Relationship Type="http://schemas.openxmlformats.org/officeDocument/2006/relationships/notesSlide" Target="/ppt/notesSlides/notesSlide4.xml" Id="Rf236459cf44848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b2bba605044048" /><Relationship Type="http://schemas.openxmlformats.org/officeDocument/2006/relationships/notesSlide" Target="/ppt/notesSlides/notesSlide5.xml" Id="Rd67563b61b87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be4c5f9014c83" /><Relationship Type="http://schemas.openxmlformats.org/officeDocument/2006/relationships/image" Target="/ppt/media/image2.png" Id="Rc4b362fba8e4477b" /><Relationship Type="http://schemas.openxmlformats.org/officeDocument/2006/relationships/notesSlide" Target="/ppt/notesSlides/notesSlide6.xml" Id="R76b20397c0a34e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59a9508364d1e" /><Relationship Type="http://schemas.openxmlformats.org/officeDocument/2006/relationships/notesSlide" Target="/ppt/notesSlides/notesSlide7.xml" Id="R449534130c324c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b5d03863142d5" /><Relationship Type="http://schemas.openxmlformats.org/officeDocument/2006/relationships/image" Target="/ppt/media/image3.png" Id="R5211b09a30f04718" /><Relationship Type="http://schemas.openxmlformats.org/officeDocument/2006/relationships/image" Target="/ppt/media/image4.png" Id="R555dfe2b0a8f4333" /><Relationship Type="http://schemas.openxmlformats.org/officeDocument/2006/relationships/notesSlide" Target="/ppt/notesSlides/notesSlide8.xml" Id="R31df9b59a07b45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aa57e6c4d4a0a" /><Relationship Type="http://schemas.openxmlformats.org/officeDocument/2006/relationships/notesSlide" Target="/ppt/notesSlides/notesSlide9.xml" Id="R30b1d327313d4f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93b4a1d1f44395" /><Relationship Type="http://schemas.openxmlformats.org/officeDocument/2006/relationships/notesSlide" Target="/ppt/notesSlides/notesSlide10.xml" Id="R932b6f03eda145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546B5-C6FE-4E95-A0EB-85B59E13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F4C7F-FA0D-44E1-A22E-8CA58118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619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23A93-7109-4C4E-8E04-8C61891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7EDF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EDF3"/>
                </a:solidFill>
                <a:latin typeface="Avenir Next"/>
                <a:ea typeface="Avenir Next"/>
                <a:cs typeface="Avenir Next"/>
              </a:rPr>
              <a:t>Final Dissertation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32E58-C344-4C14-A8EC-9A998386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F3F6F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3F6FA"/>
                </a:solidFill>
                <a:latin typeface="Avenir Next"/>
                <a:ea typeface="Avenir Next"/>
                <a:cs typeface="Avenir Next"/>
              </a:rPr>
              <a:t>Decory Edwards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F3F6FA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F3F6FA"/>
                </a:solidFill>
                <a:latin typeface="Avenir Next"/>
                <a:ea typeface="Avenir Next"/>
                <a:cs typeface="Avenir Next"/>
              </a:rPr>
              <a:t>June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5C3A0-C4FD-438F-8808-C4ADE3C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71550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3150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Essays on Heterogeneous Returns, Trust, and Household Wealth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2531A-33AE-44DE-B22E-3EE4BAB8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52800"/>
            <a:ext cx="628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Core theme: wealth inequality is shaped not only by earnings and savings, but by heterogeneity in rates of return, trust-related performance, and how we measure unequal wealth distributions.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80CDE-953D-4B3E-AD93-7DE5D1D4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76800"/>
            <a:ext cx="2476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CBA1C-19B9-4D73-BE09-B7FE9F0F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86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Defense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7F4B9-53CD-4579-A8D1-720F2FD5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816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Introduction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Three chapters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Synthesis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5556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ACC647-E849-46BC-967C-AEE5F7E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6ABD6-7E5A-4F35-8C99-20A7D71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D7042-64AB-4083-BDE5-72B2B188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The dissertation asks one broad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37C9C-8C08-45B8-A1F3-02B74DF8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BA203-6E29-44F8-A19B-4A73DA1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3EE89-86AD-4ECC-BAFD-5E3AFB1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2325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How do heterogeneous rates of return reshape the explanation, performance, and measurement of wealth inequality?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C72D7-B974-4BCA-8A23-3E58B94C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575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F7921-1E38-4D3D-B00C-B76CE11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Chapter 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Structural macro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152E6-CAD2-46A2-A00B-177A40EA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Embed return heterogeneity in a standard heterogeneous-agent model and estimate the return distribution needed to match wealth moments.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902DD-4A5F-4DE4-BA94-6EA1825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67000"/>
            <a:ext cx="28575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74F90-B51B-4C49-AF82-0CF718A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9560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Chapter 2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Trust and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0670D-0700-45C6-86CA-BAA0799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338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Measure returns to net wealth in the HRS and test whether trust has a nonlinear relationship with long-run household investment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47C87-8EBB-4186-8E11-E606E965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28575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6E1DB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87908-9C84-4687-8930-E630672F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Chapter 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Wealth inequality under ambiguity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7535E-06CE-4990-8A0E-EE4B13A1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338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Motivated by Rawls, build an ambiguity-based wealth inequality measure and compare it with the standard objective-uncertainty benchmark.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B890A-D2B0-48A0-85D8-4DD66A52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625978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F2BCD-3B4D-439B-8CC2-8F2CE2C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B8B8A-CA3C-4286-916B-C6EF2DB1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Chapter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7B6F6-2AB0-40EA-99B7-81D5FAD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Matching wealth moments with heterogeneous returns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B46FC-FC98-4891-A8D6-294FC68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E8858-A85F-4326-8852-3CD16B2C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FD819-22DE-4B03-9816-E4E8D63C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1E834-0E8E-4908-A7DA-861AADFE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2325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Return heterogeneity is a quantitatively important missing ingredient in structural macro models of wealth inequality.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1E930-0F7D-429E-8AE3-80A37D95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7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Start from a standard heterogeneous-agent model with labor income risk.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Estimate the return distribution needed to match SCF wealth moments.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Interpret the implied dispersion as consistent with empirical heterogeneity in realized rates of return.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23788-D4DF-4175-B8E9-4FCD2460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49530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CDA9C-BF9F-44A8-93AA-67FBB47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Model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04264-DC70-49B2-B369-13A9B513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Income risk and life-cycle structure explain part of wealth dispersion, but not enough.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A return distribution lets the model fit the lower and upper tails much more closely.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That better fit matters for aggregate MPCs, tax comparisons, and the interpretation of wealth concentration.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2751A-83CF-48FD-A7AE-7FDDF03D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1888067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A9FFB-0891-4F33-A21C-FA3C5380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33103-691E-46ED-8533-D885E0E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Chapter 1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84F6B-EE76-4086-8656-27C555A2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Heterogeneous returns sharply improve the fit to the wealth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8EB46-51CC-4BAF-9F2E-83869E1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7C587-E41A-4BC7-B380-3925A981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af8efc5c24d57"/>
          <a:stretch xmlns:a="http://schemas.openxmlformats.org/drawingml/2006/main"/>
        </p:blipFill>
        <p:spPr>
          <a:xfrm xmlns:a="http://schemas.openxmlformats.org/drawingml/2006/main">
            <a:off x="762000" y="1910292"/>
            <a:ext cx="4857750" cy="26087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CEC3B-CCCF-4061-9FC3-543F24A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238375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D5BAB-417B-4FAD-9D13-78AD6463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Estimated return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DD32B-36E8-472E-99A3-EE402C5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R = 1.0204</a:t>
            </a:r>
          </a:p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∇ = 0.0683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BEABC-CC18-442F-9693-ED6F374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33550"/>
            <a:ext cx="2238375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04677-86A7-44EA-852E-735D0BC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859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Top 5% wealth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82CA4-8C62-41EE-BD0E-35DC4894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33600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Data 57.4%</a:t>
            </a:r>
          </a:p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No het. 23.3%</a:t>
            </a:r>
          </a:p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Het. 58.8%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89AE9-2F6F-46BA-A227-A9288CD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4667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6E1DB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63235-3DAB-4BAF-AF96-9A76F956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Life-cycle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9CCD1-1E08-41D1-9D58-EAEAA013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Aggregate MPC rises from about 12.6% to 27.8% once return heterogeneity is added.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43700-A167-4ABC-8B1B-3E7F4C34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The Lorenz curve with return heterogeneity tracks the SCF much better than the no-heterogeneity benchmark.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The estimated return distribution is modest in scale, not an implausibly extreme calibration.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Takeaway: heterogeneous returns can be a disciplined explanation for observed wealth concentration.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E60EC-F353-443F-A7CF-B86CBEF2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1108306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6B12A2-4F46-4404-8948-5DE4044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69B90-6F56-4473-8BA8-139DC81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Chapter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02AF9-3EE9-44FB-BF2B-5A9E28F7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Moderate trust and maximum performance on financial investments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D12AD-1DA2-4C86-A5D9-1F8455C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0D34A-FF22-49D2-BCC3-884D09C3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155A3-D775-4B2E-B732-BEFECD89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28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2250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Question: if trust shapes how households interact with financial institutions and markets, does a moderate amount of trust maximize returns to net wealth?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0E15D-31B5-4364-B1AA-932CA8DD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572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D953F-A077-4417-8A8C-DCD9D33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409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Use the RAND HRS panel to construct realized returns to net wealth.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Trust in people is observed in 2020 on a 1 to 10 scale.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5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Estimate pooled, FE, RE, and CRE specifications to separate time-varying and persistent return components.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ED0AC-D9D0-461C-ABA2-E7B632E9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09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B30D6-C4A3-48F1-A52B-17106ACE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Net wealth return distribution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8CE37-463D-49EC-BD3B-94F52B2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Mean 0.201</a:t>
            </a:r>
          </a:p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Median 0.084</a:t>
            </a:r>
          </a:p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P99 2.697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61148-31BA-4060-99C9-8F4ED9D3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4574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A9B18-E7E7-4DC2-9A5D-7F2B2A6E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Why CRE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72159-C062-4988-BC93-C6C534EC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Trust is time-invariant in the HRS, so panel structure matters for identification.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C7280-ED0B-4C8E-BAAE-5DE3A54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47625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6E1DB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E769D-F86D-426B-A97D-63FC4886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Empirical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9E90B-C8F3-495A-BA89-797CA94B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0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Estimate a hump-shaped relationship in trust while retaining an interpretable persistent household component in returns.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EB856-62DB-41B9-A12A-E391A36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1169537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3FD967-2DB1-43DB-9CB4-2A0C86B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CF0A2-2FCC-4A0E-B815-63C55434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Chapter 2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96A17-9C9A-4C76-ADB4-C9EC2CF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Returns peak at moderate trust, and persistent heterogeneity survives richer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1966E-4440-4AAD-B370-7438EEE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602F0-4D17-42A4-A5FE-83BFF1EE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362fba8e4477b"/>
          <a:stretch xmlns:a="http://schemas.openxmlformats.org/drawingml/2006/main"/>
        </p:blipFill>
        <p:spPr>
          <a:xfrm xmlns:a="http://schemas.openxmlformats.org/drawingml/2006/main">
            <a:off x="1134452" y="1771650"/>
            <a:ext cx="2969846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01CE1-C073-48F0-B126-82988E75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7526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F3855-C7B8-47B0-9CA9-0E36AE30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431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Avg. returns peak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0AFC6-739F-4464-A62C-E5539E6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Trust* = 7.07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3C9A0-4B5C-47DF-99B1-4860BBAF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17526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AD363-5BDB-46B0-A8B5-9C07D33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Pooled OLS peak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AAA82-34B5-4C26-875D-B6E7D13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Trust* = 7.61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76DD6-E441-4263-9B5D-1D95975F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17526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6E1DB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0BD65-2FC8-41DC-879D-482F790B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CRE peak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4F9D7-8621-4C7B-B613-812A7BA3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Trust* = 6.59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96A9F-066D-462F-A967-3284C22C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56007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277E1-9913-48E1-ADE1-3B26248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9565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CRE estimates keep trust and trust squared jointly significant while allowing a persistent return component.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The estimated persistent component is comparable in shape to empirical return heterogeneity found in other datasets.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The RE restriction is rejected; CRE is the preferred panel specification.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2A10E-1A3B-439E-96A2-1D64205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67250"/>
            <a:ext cx="560070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4A609-239C-44EC-911D-283D4859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768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Robustness: once portfolio-share controls are added, the fixed-effect distribution changes little and the trust result survives.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46F2D-309A-4BC2-B47F-0C0125D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1290233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BD97D-2557-41D6-82CD-D6F713B5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087B-0A9C-4524-BEC6-857C01EF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Chapter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BB4E2-CC6A-4CA1-B681-79D9287F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Wealth inequality under ambiguity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1ADE-35CC-4AE5-8606-024F3DD5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64C42-2ABF-4293-9C5A-D5AE0730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CDFF0-3C04-4674-BE99-DF6EFB96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381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2175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Motivation: if wealth is tied to ownership rights, institutions, and social history, then ranking wealth distributions should allow for ambiguity, not only objective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D4380-5933-4D3A-AF58-977F4858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51485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265AA-A9D0-46DA-AECF-60DEF3AD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Rawls-inspired move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AE0A1-8BAB-4F26-AD38-C74870A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Treat socially relevant states, such as race, as part of the ranking problem.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Use choice under ambiguity to build a welfare-based wealth inequality measure.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Compare it directly with the objective-uncertainty benchmark used in the standard Atkinson-style approach.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03F1E-7E89-409D-9ECE-09C8F55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476250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05715-849A-4BA4-9368-E44E3802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Proposed 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09C28-0842-4277-9693-16239047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3000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IA = 1 - wEDE / 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575B6-B91E-43A9-BBE3-51B9F4E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3848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Interpretation: the equally distributed equivalent wealth level falls when ambiguity about socially relevant states matters, pushing measured inequality 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5A0A8-EF64-4096-8F05-DE7C0833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305780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137FD-7EA1-4A46-B0D9-E69A037A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888C2-5BB8-439A-98DE-BE35B968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Chapter 3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0B631-D2D1-4988-A693-9C7A880D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Ambiguity-based wealth inequality is systematically higher and tracks racial wealth-gap dynamics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0C82-89BA-4039-B872-8EAC5791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D275F-96E1-430D-93ED-ED517E59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1b09a30f04718"/>
          <a:stretch xmlns:a="http://schemas.openxmlformats.org/drawingml/2006/main"/>
        </p:blipFill>
        <p:spPr>
          <a:xfrm xmlns:a="http://schemas.openxmlformats.org/drawingml/2006/main">
            <a:off x="1593859" y="1714500"/>
            <a:ext cx="2955906" cy="3810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dfe2b0a8f4333"/>
          <a:stretch xmlns:a="http://schemas.openxmlformats.org/drawingml/2006/main"/>
        </p:blipFill>
        <p:spPr>
          <a:xfrm xmlns:a="http://schemas.openxmlformats.org/drawingml/2006/main">
            <a:off x="6479295" y="1714500"/>
            <a:ext cx="4567410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3555E-A04F-4242-9B6F-F0DFAFC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489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Figure 3.2: the median Black-White wealth gap is positive and persistent over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232C4-EBA2-4032-97A6-EDC95A5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38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Figure 3.3: even at low curvature, IA stays above the objective benchmark 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DBE73-73C1-4EB0-859A-5D36CFE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710127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7676A9-1C30-462E-A47E-31F6A10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AE400-C633-45E3-8463-0111F9B5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4CBED-C4E3-4249-ACD5-F7D2ACB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The three chapters connect through one unifying lesson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BD228-B720-443D-B66C-C2590113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7680F-B4C4-4533-884F-58FAD98C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6FAB2-B08E-434D-8D1F-7C65086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2400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Rates of return matter for wealth inequality at three margins: distributional explanation, realized performance, and welfare-based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13822-FEB9-4AE7-B437-59E39970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6289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C4A3A-ADCB-4255-9830-6C29382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Explaining concentration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9FA66-50A1-4B0F-8C29-6AAC2F9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Structural macro models need heterogeneity in returns to reproduce empirical wealth moments and realistic MPC implications.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6E8EC-C5ED-4C6C-8B5A-11E8DDB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6289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3E7C9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A4872-6C05-46AB-9DFA-951FA91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Explaining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95560-2D34-4857-99D1-A9716C16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528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Moderate trust is associated with higher returns to net wealth, while persistent household-specific return heterogeneity remains economically important.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53340-EB02-4041-AA66-99DE676B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00350"/>
            <a:ext cx="26289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6E1DB"/>
          </a:solidFill>
          <a:ln xmlns:a="http://schemas.openxmlformats.org/drawingml/2006/main" w="9525">
            <a:solidFill>
              <a:srgbClr val="D8CEB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B08FC-455E-4D0A-BEA3-5ED8C55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Explaining measurement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5F0FC-3055-4ABB-9176-B4A111E9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Once socially relevant ambiguity is admitted, standard objective inequality measures understate wealth inequality in the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1B340-F14F-4EAE-B543-77734A3A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Big picture: wealth inequality is not only about who saves more. It is also about who earns different returns, why, and how we judge the inequality those returns create.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15343-772D-47F3-8D0D-C3F7B82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10877974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16121-8A55-4C2A-85A7-11253F1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33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A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47209-47CD-4407-9A68-F97ECEDF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355C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355C7D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87472-250C-45E1-A903-5DA032D0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Main takeaways for the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21B2-5F4B-45B1-B191-002AA95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B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B7C3E-52E1-44B8-962E-C21A997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DF5C4-AF1A-4FA8-BB39-4245E154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>
                <a:solidFill>
                  <a:srgbClr val="0B2D4D"/>
                </a:solidFill>
                <a:latin typeface="Baskerville"/>
                <a:ea typeface="Baskerville"/>
                <a:cs typeface="Baskerville"/>
              </a:defRPr>
            </a:pPr>
            <a:r>
              <a:rPr sz="2475" b="1">
                <a:solidFill>
                  <a:srgbClr val="0B2D4D"/>
                </a:solidFill>
                <a:latin typeface="Baskerville"/>
                <a:ea typeface="Baskerville"/>
                <a:cs typeface="Baskerville"/>
              </a:rPr>
              <a:t>Across the dissertation, heterogeneous returns are central to understanding wealth dynamics in the data and to evaluating wealth inequality in theory.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11BAC-078D-486C-A5B1-D5D5257E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9144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Chapter 1: return heterogeneity can match key SCF wealth moments in a structural macro model, with an implied return distribution close to empirical evidence.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Chapter 2: returns to net wealth display a hump-shaped relationship with trust, peaking in a moderate range around 6 to 7, while persistent heterogeneity remains after richer controls.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>
                <a:solidFill>
                  <a:srgbClr val="18212B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18212B"/>
                </a:solidFill>
                <a:latin typeface="Avenir Next"/>
                <a:ea typeface="Avenir Next"/>
                <a:cs typeface="Avenir Next"/>
              </a:rPr>
              <a:t>• Chapter 3: an ambiguity-based wealth inequality measure implies more inequality than the objective benchmark for the same wealth distribution and co-moves with the Black-White median wealth gap.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3C27E-D110-441F-8774-B6E4202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0B2D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B2D4D"/>
                </a:solidFill>
                <a:latin typeface="Avenir Next"/>
                <a:ea typeface="Avenir Next"/>
                <a:cs typeface="Avenir Next"/>
              </a:rPr>
              <a:t>Thank you. I look forward to your 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A16E6-B4E1-45B1-8BCA-A616861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defRPr>
            </a:pPr>
            <a:r>
              <a:rPr sz="900">
                <a:solidFill>
                  <a:srgbClr val="5B6470"/>
                </a:solidFill>
                <a:latin typeface="Avenir Next"/>
                <a:ea typeface="Avenir Next"/>
                <a:cs typeface="Avenir Next"/>
              </a:rPr>
              <a:t>Essays on Heterogeneous Returns, Trust, and Household Wealth</a:t>
            </a:r>
          </a:p>
        </p:txBody>
      </p:sp>
    </p:spTree>
    <p:extLst>
      <p:ext uri="{BB962C8B-B14F-4D97-AF65-F5344CB8AC3E}">
        <p14:creationId xmlns:p14="http://schemas.microsoft.com/office/powerpoint/2010/main" val="232739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2026-06-01T13:34:33.2500000Z</dcterms:created>
  <dcterms:modified xsi:type="dcterms:W3CDTF">2026-06-01T13:34:33.2500000Z</dcterms:modified>
</coreProperties>
</file>